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05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开场：作品定位一句话 + 三个关键数字（7 Agent / 幻觉率 2.4% / 1366 测试）。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三大痛点各自给出本作品对策，落到赛题的多智能体协同思路。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闭环四段即演示视频主线；两类场景对应赛题“技能培训+二次开发”。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架构三段式；右侧关键事实卡对应评审最关心的规模与交付形态。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7+2 Agent 分工 + 五阶段链 + 打回博弈回环 = 赛题“分析-生成-校验-决策”闭环。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核心创新页：三方分离（生成/审核/裁判）+ 溯源，幻灯片左环右防线。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三形态 + beginner/advanced 对比是“真个性化”的直接证据（见测试数据 I/O 示例）。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珊瑚色 = 幻觉率是唯一 accent；达标线虚线刻度直观呈现余量。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对应评分“用户体验 15 分”：协同可视化 + 报告三联图 + 交互细节。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发行物 KMatch·知链-1.4.0-x64.exe；端用户零命令行、零配置文件。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对应评分“实用价值 30 分”：测试方案完整性 + 三指标 + 远超 50 组下限的用例量。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收尾金句 + 四创新点 + 仓库与交付物指引。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370832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0B7F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366760" y="43708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领域元知识 · 292 节点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366760" y="3803904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366760" y="38039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项目框架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366760" y="3236976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366760" y="32369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3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代码实体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366760" y="2670048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366760" y="26700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3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演化扩展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66760" y="4956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四层知识图谱 · 共享事实底座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669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95528" y="5669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85953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95528" y="85953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KMatch · 知链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182880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KMatch·知链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知识图谱驱动的多智能体协同个性化学习平台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02920" y="3493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领域知识个性化生成与多智能体协同决策系统研究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个核心 Agent 协同决策</a:t>
            </a:r>
            <a:r>
              <a:rPr lang="en-US" sz="1500" dirty="0">
                <a:solidFill>
                  <a:srgbClr val="3E62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</a:t>
            </a:r>
            <a:r>
              <a:rPr lang="en-US" sz="15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 2.4%</a:t>
            </a:r>
            <a:r>
              <a:rPr lang="en-US" sz="150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（独立裁判实测）   ·   1366 项自动化测试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6172200"/>
            <a:ext cx="11183112" cy="0"/>
          </a:xfrm>
          <a:prstGeom prst="line">
            <a:avLst/>
          </a:prstGeom>
          <a:noFill/>
          <a:ln w="12700">
            <a:solidFill>
              <a:srgbClr val="2354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2920" y="62910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“挑战杯”揭榜挂帅擂台赛 · 赛题 XH-202630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26972" y="6245352"/>
            <a:ext cx="5443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altLang="en-US" sz="12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</a:rPr>
              <a:t>安徽理工大学 张睿杰</a:t>
            </a:r>
            <a:endParaRPr lang="en-US" sz="1250" dirty="0">
              <a:solidFill>
                <a:srgbClr val="B7CFCB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背景与痛点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大模型落地垂直教育领域的三道坎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602736" cy="3520440"/>
          </a:xfrm>
          <a:prstGeom prst="roundRect">
            <a:avLst>
              <a:gd name="adj" fmla="val 2338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BE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081528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生成专业实操内容容易失实、偏离行业规范，这在教学场景中不可接受。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对策：图谱事实锚定 + 生成审核博弈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25112" y="1600200"/>
            <a:ext cx="3602736" cy="3520440"/>
          </a:xfrm>
          <a:prstGeom prst="roundRect">
            <a:avLst>
              <a:gd name="adj" fmla="val 2338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99432" y="18013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BE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599432" y="262432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个性化与专业性难调和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99432" y="3081528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放开限制迁就学情，专业内容就失准；收紧限制保住准确，资源又千人一面。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9432" y="43891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对策：画像适配与事实约束解耦分层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47304" y="1600200"/>
            <a:ext cx="3602736" cy="3520440"/>
          </a:xfrm>
          <a:prstGeom prst="roundRect">
            <a:avLst>
              <a:gd name="adj" fmla="val 2338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21624" y="18013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BE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21624" y="262432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静态资源千人一面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21624" y="3081528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传统分发模式无法匹配学历背景、理论水平、学习风格各异的学习者。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21624" y="43891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对策：画像驱动的路径与资源双个性化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54406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赛题思路：</a:t>
            </a:r>
            <a:r>
              <a:rPr lang="en-US" sz="16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摒弃“单体大模型包打天下”，以</a:t>
            </a:r>
            <a:r>
              <a:rPr lang="en-US" sz="1600" b="1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多智能体协同决策</a:t>
            </a:r>
            <a:r>
              <a:rPr lang="en-US" sz="16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构建“分析 — 生成 — 校验 — 决策”闭环，兼顾个性化与高保真。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方案总览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一个闭环，两类场景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以四层知识图谱为共享事实底座，LangGraph 编排 7 个核心 Agent + 2 个辅助 Agent，覆盖 Python 学习全流程：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04088" y="21122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BE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" y="26243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差异化画像输入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04088" y="300837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学历背景 · 理论水平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VARK 风格 · 学时节奏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2857500"/>
            <a:ext cx="420624" cy="0"/>
          </a:xfrm>
          <a:prstGeom prst="line">
            <a:avLst/>
          </a:prstGeom>
          <a:noFill/>
          <a:ln w="3048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557016" y="196596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758184" y="21122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58184" y="26243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多智能体协同调度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758184" y="300837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五阶段编排 · 打回博弈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调度事件实时可视化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336" y="2857500"/>
            <a:ext cx="420624" cy="0"/>
          </a:xfrm>
          <a:prstGeom prst="line">
            <a:avLst/>
          </a:prstGeom>
          <a:noFill/>
          <a:ln w="3048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611112" y="196596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12280" y="21122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BE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26243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个性化资源生成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12280" y="300837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 / 实操 / 测试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三形态 · 逐段溯源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71432" y="2857500"/>
            <a:ext cx="420624" cy="0"/>
          </a:xfrm>
          <a:prstGeom prst="line">
            <a:avLst/>
          </a:prstGeom>
          <a:noFill/>
          <a:ln w="3048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665208" y="196596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866376" y="21122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BE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866376" y="26243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反馈动态决策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866376" y="300837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正确率驱动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 / 降维 / 补前置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908792" y="3858768"/>
            <a:ext cx="0" cy="512064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 flipH="1">
            <a:off x="1746504" y="4370832"/>
            <a:ext cx="9162288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 flipV="1">
            <a:off x="1746504" y="3803904"/>
            <a:ext cx="0" cy="566928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717036" y="3986784"/>
            <a:ext cx="47548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画像跨次进化 · 掌握度加权合并 · 30 天遗忘降级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709160"/>
            <a:ext cx="546811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40664" y="485546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 · 无项目技能训练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0664" y="5239512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学情测评 → 个性化路径 → 分层资源 → 动态反馈，完整学习闭环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08776" y="4709160"/>
            <a:ext cx="546811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46520" y="485546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 · 有项目二次开发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6520" y="5239512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项目自动解析为代码图谱，代码审查 / 测试双 Agent 协同质量反馈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总体架构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 × 四层知识图谱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7406640" cy="1170432"/>
          </a:xfrm>
          <a:prstGeom prst="roundRect">
            <a:avLst>
              <a:gd name="adj" fmla="val 7031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58952" y="1609344"/>
            <a:ext cx="6894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IDE（Electron 33 + Vue 3 + Monaco）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952" y="1993392"/>
            <a:ext cx="6894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导航侧栏 · 文件树 · 多标签编辑器 · 学习会话（目标→答题→协同→图谱）· AI 助手 · 知识/项目图谱 · Git · 运行历史 · 数据看板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IPC 代理 + SSE 流式（渲染进程不直连后端，天然适配打包形态）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7406640" cy="1874520"/>
          </a:xfrm>
          <a:prstGeom prst="roundRect">
            <a:avLst>
              <a:gd name="adj" fmla="val 5556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58952" y="3035808"/>
            <a:ext cx="6894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sidecar：KMatchBackend.exe（FastAPI + LangGraph）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952" y="3511296"/>
            <a:ext cx="6894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主控调度 Agent（StateGraph 编排）+ 学情检测 / 图谱管控 / 内容生成 / 内容审核 / 代码审查 / 代码测试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辅助：独立裁判（LLM-as-Judge）· 动态建域　｜　KnowledgeGraph 引擎（图遍历 + 向量语义混合检索）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run_store 耐久运行档案 · workflow_def 流程即数据 · 逻辑门决策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517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进程内嵌入式存储（默认，免 Docker）　/　Bolt（可选 Neo4j 5.x）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828032"/>
            <a:ext cx="7406640" cy="1170432"/>
          </a:xfrm>
          <a:prstGeom prst="roundRect">
            <a:avLst>
              <a:gd name="adj" fmla="val 7031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58952" y="4956048"/>
            <a:ext cx="6894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· 四层知识图谱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8952" y="5340096"/>
            <a:ext cx="6894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领域元知识 → 项目框架 → 代码实体 → 演化扩展　｜　292 节点 / 12 分类 + 423 题题库（JSON Schema 约束）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148132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关键事实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1874520"/>
            <a:ext cx="3456432" cy="932688"/>
          </a:xfrm>
          <a:prstGeom prst="roundRect">
            <a:avLst>
              <a:gd name="adj" fmla="val 8824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12480" y="194767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292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412480" y="24048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元知识节点 / 12 分类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2953512"/>
            <a:ext cx="3456432" cy="932688"/>
          </a:xfrm>
          <a:prstGeom prst="roundRect">
            <a:avLst>
              <a:gd name="adj" fmla="val 8824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12480" y="3026664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423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8412480" y="348386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题库（四题型）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032504"/>
            <a:ext cx="3456432" cy="932688"/>
          </a:xfrm>
          <a:prstGeom prst="roundRect">
            <a:avLst>
              <a:gd name="adj" fmla="val 8824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412480" y="4105656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130MB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8412480" y="456285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安装包 · 免 Docker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5111496"/>
            <a:ext cx="3456432" cy="932688"/>
          </a:xfrm>
          <a:prstGeom prst="roundRect">
            <a:avLst>
              <a:gd name="adj" fmla="val 8824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12480" y="51846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8412480" y="564184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全链路流式进度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多智能体协同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个核心 Agent 的五阶段协同链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0C35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主控调度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编排路由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21408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212848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学情检测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212848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出题·判分·三维画像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39896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831336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图谱管控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831336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路径组装·状态写回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58384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449824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49824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三形态·溯源标记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76872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68312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68312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四维评分·溯源校验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95360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86800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686800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项目规范审查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13848" y="1517904"/>
            <a:ext cx="1517904" cy="1170432"/>
          </a:xfrm>
          <a:prstGeom prst="roundRect">
            <a:avLst>
              <a:gd name="adj" fmla="val 703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305288" y="164592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代码测试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305288" y="199339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沙箱执行·风险标注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27980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 Agent：</a:t>
            </a:r>
            <a:r>
              <a:rPr lang="en-US" sz="13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独立裁判（LLM-as-Judge，可异源）· 动态建域（未收录领域当场构建）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310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场景一固化流程（流程定义随 run 落盘，可复盘）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02920" y="3703320"/>
            <a:ext cx="1549811" cy="786384"/>
          </a:xfrm>
          <a:prstGeom prst="roundRect">
            <a:avLst>
              <a:gd name="adj" fmla="val 10465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2920" y="3703320"/>
            <a:ext cx="15498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学情检测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101672" y="4096512"/>
            <a:ext cx="326276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476890" y="3703320"/>
            <a:ext cx="1549811" cy="786384"/>
          </a:xfrm>
          <a:prstGeom prst="roundRect">
            <a:avLst>
              <a:gd name="adj" fmla="val 10465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476890" y="3703320"/>
            <a:ext cx="15498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画像审核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075642" y="4096512"/>
            <a:ext cx="326276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450860" y="3703320"/>
            <a:ext cx="1549811" cy="786384"/>
          </a:xfrm>
          <a:prstGeom prst="roundRect">
            <a:avLst>
              <a:gd name="adj" fmla="val 10465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450860" y="3703320"/>
            <a:ext cx="15498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图谱组装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049613" y="4096512"/>
            <a:ext cx="326276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424830" y="3703320"/>
            <a:ext cx="1549811" cy="786384"/>
          </a:xfrm>
          <a:prstGeom prst="roundRect">
            <a:avLst>
              <a:gd name="adj" fmla="val 10465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424830" y="3703320"/>
            <a:ext cx="15498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023583" y="4096512"/>
            <a:ext cx="326276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398800" y="3703320"/>
            <a:ext cx="1549811" cy="786384"/>
          </a:xfrm>
          <a:prstGeom prst="roundRect">
            <a:avLst>
              <a:gd name="adj" fmla="val 10465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398800" y="3703320"/>
            <a:ext cx="15498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内容审核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997553" y="4096512"/>
            <a:ext cx="538355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584850" y="3703320"/>
            <a:ext cx="1101181" cy="786384"/>
          </a:xfrm>
          <a:prstGeom prst="roundRect">
            <a:avLst>
              <a:gd name="adj" fmla="val 10465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584850" y="3703320"/>
            <a:ext cx="110118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· 交付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9173706" y="4489704"/>
            <a:ext cx="0" cy="310896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 flipH="1">
            <a:off x="7199736" y="4800600"/>
            <a:ext cx="197397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7199736" y="4544568"/>
            <a:ext cx="0" cy="256032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315200" y="4864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 → 打回定向再生（注入修正提示，多轮博弈）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920" y="54406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调度事件（agent-start / agent-end / 耗时）实时落盘 events.jsonl，前端协同阶段与流程 DAG 同步可视化；LLM 不可用自动降级不产半成品。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抗幻觉机制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辩论与交叉验证：生成、审核、裁判三方分离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" y="1847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" y="221284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只许使用图谱节点事实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163824" y="1847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63824" y="221284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source_nodes 逐条核对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56616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0C35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163824" y="36758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独立裁判复核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63824" y="404164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LLM-as-Judge · 可异源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9224" y="36758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高保真交付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" y="404164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逐段可溯源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2258568"/>
            <a:ext cx="228600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574036" y="18836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2788920"/>
            <a:ext cx="0" cy="77724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 flipH="1">
            <a:off x="2788920" y="4087368"/>
            <a:ext cx="228600" cy="0"/>
          </a:xfrm>
          <a:prstGeom prst="line">
            <a:avLst/>
          </a:prstGeom>
          <a:noFill/>
          <a:ln w="2794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645920" y="2788920"/>
            <a:ext cx="0" cy="41148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645920" y="3200400"/>
            <a:ext cx="393192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 flipV="1">
            <a:off x="5577840" y="2258568"/>
            <a:ext cx="0" cy="941832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 flipH="1">
            <a:off x="5303520" y="2258568"/>
            <a:ext cx="27432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463040" y="2926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 / 无溯源 → 打回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1481328"/>
            <a:ext cx="5513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四道防线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1722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775704" y="19019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事实锚定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775704" y="220370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prompt 强制锚定图谱事实，禁止编造图谱外知识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27432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172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775704" y="2688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溯源校验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775704" y="299008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引用不存在节点 / 与节点事实不符即判幻觉打回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52958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1722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775704" y="34747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定向再生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775704" y="377647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审核意见注入修正提示，只重生被点名内容（15→3-6 次调用）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43159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17220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775704" y="42611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独立裁判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6775704" y="45628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生成方不自批：grounded / hallucinated / unverifiable 三态判定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72199" y="5138928"/>
            <a:ext cx="5831541" cy="841248"/>
          </a:xfrm>
          <a:prstGeom prst="roundRect">
            <a:avLst>
              <a:gd name="adj" fmla="val 9783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391656" y="5138928"/>
            <a:ext cx="567483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 2.4%</a:t>
            </a:r>
            <a:r>
              <a:rPr lang="en-US" sz="1250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（2/83 条资源 · 独立裁判口径）远优于赛题达标线 &lt;5%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个性化生成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同一知识库切片，两套完全不同的产出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59893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blurRad="88900" dist="25400" dir="2700000" algn="bl" rotWithShape="0">
              <a:srgbClr val="0C3532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517904"/>
            <a:ext cx="5989320" cy="310896"/>
          </a:xfrm>
          <a:prstGeom prst="roundRect">
            <a:avLst>
              <a:gd name="adj" fmla="val 17647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5989320" cy="73152"/>
          </a:xfrm>
          <a:prstGeom prst="rect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0936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86384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41832" y="1632204"/>
            <a:ext cx="82296" cy="82296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88720" y="1536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学习会话 · 图谱阶段 · 资源交付区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1883664"/>
            <a:ext cx="5769864" cy="3218688"/>
          </a:xfrm>
          <a:prstGeom prst="roundRect">
            <a:avLst>
              <a:gd name="adj" fmla="val 1136"/>
            </a:avLst>
          </a:prstGeom>
          <a:solidFill>
            <a:srgbClr val="F3FAF9"/>
          </a:solidFill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66560" y="156362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563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24928" y="151790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分层讲义 lecture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1837944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 · 知识讲解 · 常见误区，措辞随画像分级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253288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24928" y="248716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阶梯式实操指南 practice_guide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4928" y="2807208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真实任务背景 + 5 级脚手架渐进揭示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350215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766560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24928" y="345643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分阶测试题 test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24928" y="377647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50% + 进阶 50%，格式冻结可本地判分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4526280"/>
            <a:ext cx="4919472" cy="1417320"/>
          </a:xfrm>
          <a:prstGeom prst="roundRect">
            <a:avLst>
              <a:gd name="adj" fmla="val 5806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967728" y="464515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难度自适应实证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67728" y="4974336"/>
            <a:ext cx="4517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零基础学生 → beginner：入门措辞，从基本概念讲起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资深开发者 → advanced：进阶解读 + 项目化实操任务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534924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每段内容标注 source_nodes，点击资源段高亮溯源图谱节点</a:t>
            </a:r>
            <a:endParaRPr lang="en-US" sz="125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C646C02-267D-AB86-6035-18643703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97" y="1929383"/>
            <a:ext cx="5866166" cy="31455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质量闭环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三项核心指标全部优于赛题达标线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3602736" cy="3017520"/>
          </a:xfrm>
          <a:prstGeom prst="roundRect">
            <a:avLst>
              <a:gd name="adj" fmla="val 2727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58952" y="187452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4015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达标线 &lt; 5%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3054096" cy="146304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3931920"/>
            <a:ext cx="732983" cy="14630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304288" y="3867912"/>
            <a:ext cx="0" cy="274320"/>
          </a:xfrm>
          <a:prstGeom prst="line">
            <a:avLst/>
          </a:prstGeom>
          <a:noFill/>
          <a:ln w="20320">
            <a:solidFill>
              <a:srgbClr val="17323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77240" y="42245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竖线 = 赛题达标线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1645920"/>
            <a:ext cx="3602736" cy="3017520"/>
          </a:xfrm>
          <a:prstGeom prst="roundRect">
            <a:avLst>
              <a:gd name="adj" fmla="val 2727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81144" y="187452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94.0%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4599432" y="30175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画像-难度适配率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99432" y="34015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达标线 ≥ 85%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99432" y="3931920"/>
            <a:ext cx="3054096" cy="146304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99432" y="3931920"/>
            <a:ext cx="2870850" cy="146304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195414" y="3867912"/>
            <a:ext cx="0" cy="274320"/>
          </a:xfrm>
          <a:prstGeom prst="line">
            <a:avLst/>
          </a:prstGeom>
          <a:noFill/>
          <a:ln w="20320">
            <a:solidFill>
              <a:srgbClr val="17323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99432" y="42245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竖线 = 赛题达标线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47304" y="1645920"/>
            <a:ext cx="3602736" cy="3017520"/>
          </a:xfrm>
          <a:prstGeom prst="roundRect">
            <a:avLst>
              <a:gd name="adj" fmla="val 2727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03336" y="187452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8421624" y="30175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核心知识点覆盖率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21624" y="34015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达标线 ≥ 90%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21624" y="3931920"/>
            <a:ext cx="3054096" cy="146304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21624" y="3931920"/>
            <a:ext cx="3054096" cy="146304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170310" y="3867912"/>
            <a:ext cx="0" cy="274320"/>
          </a:xfrm>
          <a:prstGeom prst="line">
            <a:avLst/>
          </a:prstGeom>
          <a:noFill/>
          <a:ln w="20320">
            <a:solidFill>
              <a:srgbClr val="17323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421624" y="42245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竖线 = 赛题达标线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双口径质检：生成方自评 + 独立裁判（LLM-as-Judge，可异源配置）逐资源判定；10 组差异化画像 × 83 条资源，逐条判定证据链可查；12 例黄金回归集锁定裁判行为防漂移。</a:t>
            </a:r>
            <a:r>
              <a:rPr lang="en-US" sz="13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02920" y="58064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数据来源：M5 质量检测报告（backend/scripts/run_quality_test.py ，</a:t>
            </a:r>
            <a:r>
              <a:rPr lang="en-US" sz="1200" dirty="0" err="1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独立裁判口径</a:t>
            </a:r>
            <a:r>
              <a:rPr lang="en-US" sz="1200" dirty="0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08 · 可视化与体验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调度过程不是黑盒：实时可见、可复盘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5577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blurRad="88900" dist="25400" dir="2700000" algn="bl" rotWithShape="0">
              <a:srgbClr val="0C3532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517904"/>
            <a:ext cx="5577840" cy="310896"/>
          </a:xfrm>
          <a:prstGeom prst="roundRect">
            <a:avLst>
              <a:gd name="adj" fmla="val 17647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5577840" cy="73152"/>
          </a:xfrm>
          <a:prstGeom prst="rect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0936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86384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41832" y="1632204"/>
            <a:ext cx="82296" cy="82296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88720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学习会话 · 协同阶段（Agent 状态流转）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1883664"/>
            <a:ext cx="5358384" cy="2807208"/>
          </a:xfrm>
          <a:prstGeom prst="roundRect">
            <a:avLst>
              <a:gd name="adj" fmla="val 1303"/>
            </a:avLst>
          </a:prstGeom>
          <a:solidFill>
            <a:srgbClr val="F3FAF9"/>
          </a:solidFill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09360" y="1517904"/>
            <a:ext cx="5577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blurRad="88900" dist="25400" dir="2700000" algn="bl" rotWithShape="0">
              <a:srgbClr val="0C3532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309360" y="1517904"/>
            <a:ext cx="5577840" cy="310896"/>
          </a:xfrm>
          <a:prstGeom prst="roundRect">
            <a:avLst>
              <a:gd name="adj" fmla="val 17647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309360" y="1755648"/>
            <a:ext cx="5577840" cy="73152"/>
          </a:xfrm>
          <a:prstGeom prst="rect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437376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592824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748272" y="1632204"/>
            <a:ext cx="82296" cy="82296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95160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 · 学情与资源匹配报告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19088" y="1883664"/>
            <a:ext cx="5358384" cy="2807208"/>
          </a:xfrm>
          <a:prstGeom prst="roundRect">
            <a:avLst>
              <a:gd name="adj" fmla="val 1303"/>
            </a:avLst>
          </a:prstGeom>
          <a:solidFill>
            <a:srgbClr val="F3FAF9"/>
          </a:solidFill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49834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7512" y="510235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盲区定位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" y="541324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掌握度着色 + 错题模式实录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55848" y="49834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520440" y="510235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难度匹配曲线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541324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资源难度 × 画像水平逐点对比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08776" y="49834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373368" y="510235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路径规划图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73368" y="541324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最短路径一键高亮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61704" y="49834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226296" y="510235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动态反馈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26296" y="541324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advance / remediate / scaffold</a:t>
            </a:r>
            <a:endParaRPr lang="en-US" sz="115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C722041-DE25-BC3F-7F37-1226BF617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83664"/>
            <a:ext cx="5358384" cy="28527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8E82CA04-9733-B064-0FD5-F415728C6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883664"/>
            <a:ext cx="5358384" cy="2807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09 · 桌面 IDE 形态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开箱即用的 Windows 桌面应用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66751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blurRad="88900" dist="25400" dir="2700000" algn="bl" rotWithShape="0">
              <a:srgbClr val="0C3532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517904"/>
            <a:ext cx="6675120" cy="310896"/>
          </a:xfrm>
          <a:prstGeom prst="roundRect">
            <a:avLst>
              <a:gd name="adj" fmla="val 17647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6675120" cy="73152"/>
          </a:xfrm>
          <a:prstGeom prst="rect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0936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86384" y="1632204"/>
            <a:ext cx="82296" cy="82296"/>
          </a:xfrm>
          <a:prstGeom prst="ellipse">
            <a:avLst/>
          </a:prstGeom>
          <a:solidFill>
            <a:srgbClr val="D5DE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41832" y="1632204"/>
            <a:ext cx="82296" cy="82296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88720" y="1536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视图 · 文件树 + Monaco 多标签 + 状态栏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1883664"/>
            <a:ext cx="6455664" cy="3995928"/>
          </a:xfrm>
          <a:prstGeom prst="roundRect">
            <a:avLst>
              <a:gd name="adj" fmla="val 915"/>
            </a:avLst>
          </a:prstGeom>
          <a:solidFill>
            <a:srgbClr val="F3FAF9"/>
          </a:solidFill>
          <a:ln w="12700">
            <a:solidFill>
              <a:srgbClr val="D8E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452360" y="1517904"/>
            <a:ext cx="4233672" cy="987552"/>
          </a:xfrm>
          <a:prstGeom prst="roundRect">
            <a:avLst>
              <a:gd name="adj" fmla="val 8333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653528" y="1609344"/>
            <a:ext cx="3831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 Docker 部署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53528" y="1938528"/>
            <a:ext cx="3831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嵌入式图存储 + 后端 sidecar 自启 · 安装即用约 130MB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2651760"/>
            <a:ext cx="4233672" cy="987552"/>
          </a:xfrm>
          <a:prstGeom prst="roundRect">
            <a:avLst>
              <a:gd name="adj" fmla="val 8333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653528" y="2743200"/>
            <a:ext cx="3831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53528" y="3072384"/>
            <a:ext cx="3831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多厂商 SSE 流式 · 13 工具调用循环 · write_file 审批门 · 苏格拉底导学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52360" y="3785616"/>
            <a:ext cx="4233672" cy="987552"/>
          </a:xfrm>
          <a:prstGeom prst="roundRect">
            <a:avLst>
              <a:gd name="adj" fmla="val 8333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653528" y="3877056"/>
            <a:ext cx="3831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代码沙箱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53528" y="4206240"/>
            <a:ext cx="3831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subprocess 环境变量白名单（密钥不外泄）+ Docker 隔离可选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52360" y="4919472"/>
            <a:ext cx="4233672" cy="987552"/>
          </a:xfrm>
          <a:prstGeom prst="roundRect">
            <a:avLst>
              <a:gd name="adj" fmla="val 8333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653528" y="5010912"/>
            <a:ext cx="3831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53528" y="5340096"/>
            <a:ext cx="3831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 加固 · 交互日志脱敏 · 画像全合成 · 数据仅存本机</a:t>
            </a:r>
            <a:endParaRPr lang="en-US" sz="115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3E8171E4-1A62-CD95-28F8-05ECD2835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83664"/>
            <a:ext cx="6455664" cy="3995928"/>
          </a:xfrm>
          <a:prstGeom prst="roundRect">
            <a:avLst>
              <a:gd name="adj" fmla="val 657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6264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145286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256264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52860" y="6537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10 · 工程质量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1366 项自动化测试，核心模块专项覆盖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80192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1366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项自动化测试全部通过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797 + 2 跳过（Pytest · 63 文件）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569（Vitest · 72 文件）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AB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2026-09-03 · v1.4.0 实测（基线同 v1.3.4）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0916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E7F6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04088" y="4846320"/>
            <a:ext cx="3803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手动验收 M-01 ~ M-26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全流程验收用例（P0 级 11 条）+ 发布前双路代码审查与安全扫描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74920" y="1554480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赛题点名的两大核心模块专项测试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2057400"/>
            <a:ext cx="6611112" cy="1417320"/>
          </a:xfrm>
          <a:prstGeom prst="roundRect">
            <a:avLst>
              <a:gd name="adj" fmla="val 5806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294376" y="22219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7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330952" y="2898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18541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多智能体协同调度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2551176"/>
            <a:ext cx="4782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个测试文件：编排路由（打回-再生-上限终止）· 逻辑门决策 · run 持久化 · 配置跨线程传播 · 动态建域 · SSE 流式与取消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4920" y="3630168"/>
            <a:ext cx="6611112" cy="1417320"/>
          </a:xfrm>
          <a:prstGeom prst="roundRect">
            <a:avLst>
              <a:gd name="adj" fmla="val 5806"/>
            </a:avLst>
          </a:prstGeom>
          <a:solidFill>
            <a:srgbClr val="F3FA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294376" y="37947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330952" y="4471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758184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领域知识生成准确性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29400" y="4123944"/>
            <a:ext cx="4782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个测试文件：三形态生成 · 溯源校验（引用不存在节点即打回）· 独立裁判幻觉判定 · 三指标口径 · 12 例黄金回归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74920" y="5285232"/>
            <a:ext cx="661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363 用例专测核心模块；测试全离线可跑（假模型桩，不消耗 API 配额）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4980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AB5A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81381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FD8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49808" y="81381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让大模型从“通用聊天工具”，转变为“懂专业、精技能、能落地”的教育资源生产引擎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1044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22376" y="2395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事实底座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22376" y="27249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四层知识图谱作为全部 Agent 共享事实源，内容逐段可溯源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2286000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1044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28232" y="2395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博弈抗幻觉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28232" y="27249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/ 审核 / 裁判三方分离可异源，幻觉率实测压至 2.4%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64992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1044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22376" y="34747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真个性化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2376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同一节点对零基础与资深者产出两套难度措辞完全不同的资源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8776" y="3364992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1044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28232" y="34747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工程完成度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单文件安装开箱即用 · 1366 测试 · 双路审查与安全扫描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</a:t>
            </a:r>
            <a:r>
              <a:rPr lang="en-US" sz="13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领域泛化（动态建域接入行业规范库）· 协同可视化深化（可编辑流程工作台）· 终身学习档案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257800"/>
            <a:ext cx="11183112" cy="0"/>
          </a:xfrm>
          <a:prstGeom prst="line">
            <a:avLst/>
          </a:prstGeom>
          <a:noFill/>
          <a:ln w="12700">
            <a:solidFill>
              <a:srgbClr val="2354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2920" y="5440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源代码  </a:t>
            </a:r>
            <a:r>
              <a:rPr lang="en-US" sz="11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github.com/origin0722/KMatch-Desktop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25112" y="5440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发行物  </a:t>
            </a:r>
            <a:r>
              <a:rPr lang="en-US" sz="11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KMatch·知链-1.4.0-x64.exe（Windows · 免 Docker · 终版）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47304" y="5440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FD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  </a:t>
            </a:r>
            <a:r>
              <a:rPr lang="en-US" sz="1150" dirty="0">
                <a:solidFill>
                  <a:srgbClr val="B7CF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docs/比赛提交/ 资料包（作品介绍 · 设计方案 · 测试数据 · 部署说明）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8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KMatch·知链 ｜ 赛题 XH-202630 ｜ 2026-09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1213</Words>
  <Application>Microsoft Office PowerPoint</Application>
  <PresentationFormat>宽屏</PresentationFormat>
  <Paragraphs>258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KMatch·知链 项目介绍</dc:title>
  <dc:subject>PptxGenJS Presentation</dc:subject>
  <dc:creator>KMatch</dc:creator>
  <cp:lastModifiedBy>杰 origin</cp:lastModifiedBy>
  <cp:revision>2</cp:revision>
  <dcterms:created xsi:type="dcterms:W3CDTF">2026-09-03T09:26:53Z</dcterms:created>
  <dcterms:modified xsi:type="dcterms:W3CDTF">2026-09-03T14:54:54Z</dcterms:modified>
</cp:coreProperties>
</file>
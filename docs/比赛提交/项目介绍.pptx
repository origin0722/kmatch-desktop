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开场：作品定位一句话 + 三个关键数字（7 Agent / 幻觉率 2.4% / 1366 测试）。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三大痛点各自给出本作品对策，落到赛题的多智能体协同思路。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闭环四段即演示视频主线；两类场景对应赛题“技能培训+二次开发”。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架构三段式；右侧关键事实卡对应评审最关心的规模与交付形态。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7+2 Agent 分工 + 五阶段链 + 打回博弈回环 = 赛题“分析-生成-校验-决策”闭环。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核心创新页：三方分离（生成/审核/裁判）+ 溯源，幻灯片左环右防线。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三形态 + beginner/advanced 对比是“真个性化”的直接证据（见测试数据 I/O 示例）。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珊瑚色 = 幻觉率是唯一 accent；达标线虚线刻度直观呈现余量。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对应评分“用户体验 15 分”：协同可视化 + 报告三联图 + 交互细节。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发行物 KMatch·知链-1.4.0-x64.exe；端用户零命令行、零配置文件。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对应评分“实用价值 30 分”：测试方案完整性 + 三指标 + 远超 50 组下限的用例量。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本页与演示视频三段闭环一一对应，评委可先看 PPT 再看视频。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收尾金句 + 四创新点 + 仓库与交付物指引。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5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4370832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0B7F74"/>
          </a:solidFill>
          <a:ln/>
        </p:spPr>
      </p:sp>
      <p:sp>
        <p:nvSpPr>
          <p:cNvPr id="3" name="Text 1"/>
          <p:cNvSpPr/>
          <p:nvPr/>
        </p:nvSpPr>
        <p:spPr>
          <a:xfrm>
            <a:off x="8366760" y="437083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领域元知识 · 292 节点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366760" y="3803904"/>
            <a:ext cx="2331720" cy="420624"/>
          </a:xfrm>
          <a:prstGeom prst="roundRect">
            <a:avLst>
              <a:gd name="adj" fmla="val 13043"/>
            </a:avLst>
          </a:prstGeom>
          <a:solidFill>
            <a:srgbClr val="0F948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3803904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项目框架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366760" y="3236976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2AB5A8"/>
          </a:solidFill>
          <a:ln/>
        </p:spPr>
      </p:sp>
      <p:sp>
        <p:nvSpPr>
          <p:cNvPr id="7" name="Text 5"/>
          <p:cNvSpPr/>
          <p:nvPr/>
        </p:nvSpPr>
        <p:spPr>
          <a:xfrm>
            <a:off x="8366760" y="32369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C3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代码实体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366760" y="2670048"/>
            <a:ext cx="1325880" cy="420624"/>
          </a:xfrm>
          <a:prstGeom prst="roundRect">
            <a:avLst>
              <a:gd name="adj" fmla="val 13043"/>
            </a:avLst>
          </a:prstGeom>
          <a:solidFill>
            <a:srgbClr val="7FD8CE"/>
          </a:solidFill>
          <a:ln/>
        </p:spPr>
      </p:sp>
      <p:sp>
        <p:nvSpPr>
          <p:cNvPr id="9" name="Text 7"/>
          <p:cNvSpPr/>
          <p:nvPr/>
        </p:nvSpPr>
        <p:spPr>
          <a:xfrm>
            <a:off x="8366760" y="267004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C3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演化扩展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366760" y="49560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四层知识图谱 · 共享事实底座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566928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0F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795528" y="566928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2AB5A8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85953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7FD8C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85953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 · 知链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182880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KMatch·知链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502920" y="2926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知识图谱驱动的多智能体协同个性化学习平台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502920" y="34930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领域知识个性化生成与多智能体协同决策系统研究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个核心 Agent 协同决策</a:t>
            </a:r>
            <a:pPr indent="0" marL="0">
              <a:buNone/>
            </a:pPr>
            <a:r>
              <a:rPr lang="en-US" sz="1500" dirty="0">
                <a:solidFill>
                  <a:srgbClr val="3E62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</a:t>
            </a:r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 2.4%</a:t>
            </a:r>
            <a:pPr indent="0" marL="0">
              <a:buNone/>
            </a:pPr>
            <a:r>
              <a:rPr lang="en-US" sz="15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（独立裁判实测）   ·   1366 项自动化测试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6172200"/>
            <a:ext cx="11183112" cy="0"/>
          </a:xfrm>
          <a:prstGeom prst="line">
            <a:avLst/>
          </a:prstGeom>
          <a:noFill/>
          <a:ln w="12700">
            <a:solidFill>
              <a:srgbClr val="2354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2910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“挑战杯”揭榜挂帅擂台赛 · 赛题 XH-202630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48272" y="6291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v1.4.0 · Windows 桌面应用 · 2026-09（终版）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 · 背景与痛点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大模型落地垂直教育领域的三道坎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602736" cy="3520440"/>
          </a:xfrm>
          <a:prstGeom prst="roundRect">
            <a:avLst>
              <a:gd name="adj" fmla="val 2338"/>
            </a:avLst>
          </a:prstGeom>
          <a:solidFill>
            <a:srgbClr val="F3FAF9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0136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77240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3081528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生成专业实操内容易失实，输出不符合行业规范的知识，在教育培训场景不可接受。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3891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对策：图谱事实锚定 + 生成审核博弈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25112" y="1600200"/>
            <a:ext cx="3602736" cy="3520440"/>
          </a:xfrm>
          <a:prstGeom prst="roundRect">
            <a:avLst>
              <a:gd name="adj" fmla="val 2338"/>
            </a:avLst>
          </a:prstGeom>
          <a:solidFill>
            <a:srgbClr val="F3FAF9"/>
          </a:solidFill>
          <a:ln/>
        </p:spPr>
      </p:sp>
      <p:sp>
        <p:nvSpPr>
          <p:cNvPr id="15" name="Text 13"/>
          <p:cNvSpPr/>
          <p:nvPr/>
        </p:nvSpPr>
        <p:spPr>
          <a:xfrm>
            <a:off x="4599432" y="180136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4599432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个性化与专业性难调和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99432" y="3081528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放开限制迎合学情，专业内容失去准确性；严格限制保准，资源又变得千人一面。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9432" y="43891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对策：画像适配与事实约束解耦分层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147304" y="1600200"/>
            <a:ext cx="3602736" cy="3520440"/>
          </a:xfrm>
          <a:prstGeom prst="roundRect">
            <a:avLst>
              <a:gd name="adj" fmla="val 2338"/>
            </a:avLst>
          </a:prstGeom>
          <a:solidFill>
            <a:srgbClr val="F3FAF9"/>
          </a:solidFill>
          <a:ln/>
        </p:spPr>
      </p:sp>
      <p:sp>
        <p:nvSpPr>
          <p:cNvPr id="20" name="Text 18"/>
          <p:cNvSpPr/>
          <p:nvPr/>
        </p:nvSpPr>
        <p:spPr>
          <a:xfrm>
            <a:off x="8421624" y="180136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421624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静态资源千人一面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21624" y="3081528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传统分发模式无法匹配学历背景、理论水平、学习风格各异的差异化学习者。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21624" y="43891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对策：画像驱动的路径与资源双个性化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54406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赛题思路：</a:t>
            </a:r>
            <a:pPr indent="0" marL="0">
              <a:buNone/>
            </a:pPr>
            <a:r>
              <a:rPr lang="en-US" sz="16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摒弃“单体大模型包打天下”，以</a:t>
            </a:r>
            <a:pPr indent="0" marL="0">
              <a:buNone/>
            </a:pPr>
            <a:r>
              <a:rPr lang="en-US" sz="16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多智能体协同决策</a:t>
            </a:r>
            <a:pPr indent="0" marL="0">
              <a:buNone/>
            </a:pPr>
            <a:r>
              <a:rPr lang="en-US" sz="16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构建“分析 — 生成 — 校验 — 决策”闭环，兼顾个性化与高保真。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02 · 方案总览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一个闭环，两类场景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71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以四层知识图谱为共享事实底座，LangGraph 编排 7 个核心 Agent + 2 个辅助 Agent，覆盖 Python 学习全流程：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F3FAF9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4088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差异化画像输入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04088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学历背景 · 理论水平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VARK 风格 · 学时节奏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2857500"/>
            <a:ext cx="420624" cy="0"/>
          </a:xfrm>
          <a:prstGeom prst="line">
            <a:avLst/>
          </a:prstGeom>
          <a:noFill/>
          <a:ln w="3048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557016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0F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3758184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ED9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758184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多智能体协同调度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758184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五阶段编排 · 打回博弈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调度事件实时可视化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2857500"/>
            <a:ext cx="420624" cy="0"/>
          </a:xfrm>
          <a:prstGeom prst="line">
            <a:avLst/>
          </a:prstGeom>
          <a:noFill/>
          <a:ln w="3048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611112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F3FAF9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812280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812280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 / 实操 / 测试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 · 逐段溯源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71432" y="2857500"/>
            <a:ext cx="420624" cy="0"/>
          </a:xfrm>
          <a:prstGeom prst="line">
            <a:avLst/>
          </a:prstGeom>
          <a:noFill/>
          <a:ln w="3048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65208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F3FAF9"/>
          </a:solidFill>
          <a:ln/>
        </p:spPr>
      </p:sp>
      <p:sp>
        <p:nvSpPr>
          <p:cNvPr id="26" name="Text 24"/>
          <p:cNvSpPr/>
          <p:nvPr/>
        </p:nvSpPr>
        <p:spPr>
          <a:xfrm>
            <a:off x="9866376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866376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反馈动态决策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866376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正确率驱动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 / 降维 / 补前置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08792" y="3858768"/>
            <a:ext cx="0" cy="512064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1746504" y="4370832"/>
            <a:ext cx="9162288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746504" y="3803904"/>
            <a:ext cx="0" cy="566928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717036" y="3986784"/>
            <a:ext cx="475488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画像跨次进化 · 掌握度加权合并 · 30 天遗忘降级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709160"/>
            <a:ext cx="546811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" y="4855464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 · 无项目技能训练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40664" y="5239512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学情测评 → 个性化路径 → 分层资源 → 动态反馈，完整学习闭环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08776" y="4709160"/>
            <a:ext cx="546811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6520" y="4855464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 · 有项目二次开发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46520" y="5239512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项目自动解析为代码图谱，代码审查 / 测试双 Agent 协同质量反馈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03 · 总体架构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 × 四层知识图谱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7406640" cy="1170432"/>
          </a:xfrm>
          <a:prstGeom prst="roundRect">
            <a:avLst>
              <a:gd name="adj" fmla="val 7031"/>
            </a:avLst>
          </a:prstGeom>
          <a:solidFill>
            <a:srgbClr val="E7F6F4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1609344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 IDE（Electron 33 + Vue 3 + Monaco）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58952" y="1993392"/>
            <a:ext cx="6894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导航侧栏 · 文件树 · 多标签编辑器 · 学习会话（目标→答题→协同→图谱）· AI 助手 · 知识/项目图谱 · Git · 运行历史 · 数据看板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26883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Electron IPC 代理 + SSE 流式（渲染进程不直连后端，天然适配打包形态）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999232"/>
            <a:ext cx="7406640" cy="1481328"/>
          </a:xfrm>
          <a:prstGeom prst="roundRect">
            <a:avLst>
              <a:gd name="adj" fmla="val 5556"/>
            </a:avLst>
          </a:prstGeom>
          <a:solidFill>
            <a:srgbClr val="0F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3127248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sidecar：KMatchBackend.exe（FastAPI + LangGraph）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58952" y="3511296"/>
            <a:ext cx="6894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主控调度 Agent（StateGraph 编排）+ 学情检测 / 图谱管控 / 内容生成 / 内容审核 / 代码审查 / 代码测试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辅助：独立裁判（LLM-as-Judge）· 动态建域　｜　KnowledgeGraph 引擎（图遍历 + 向量语义混合检索）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run_store 耐久运行档案 · workflow_def 流程即数据 · 逻辑门决策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45171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进程内嵌入式存储（默认，免 Docker）　/　Bolt（可选 Neo4j 5.x）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828032"/>
            <a:ext cx="7406640" cy="1170432"/>
          </a:xfrm>
          <a:prstGeom prst="roundRect">
            <a:avLst>
              <a:gd name="adj" fmla="val 7031"/>
            </a:avLst>
          </a:prstGeom>
          <a:solidFill>
            <a:srgbClr val="E7F6F4"/>
          </a:solidFill>
          <a:ln/>
        </p:spPr>
      </p:sp>
      <p:sp>
        <p:nvSpPr>
          <p:cNvPr id="18" name="Text 16"/>
          <p:cNvSpPr/>
          <p:nvPr/>
        </p:nvSpPr>
        <p:spPr>
          <a:xfrm>
            <a:off x="758952" y="4956048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 · 四层知识图谱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58952" y="5340096"/>
            <a:ext cx="6894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领域元知识 → 项目框架 → 代码实体 → 演化扩展　｜　12 文件 292 节点 / 12 分类 + 423 题题库（JSON Schema 约束）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1481328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关键事实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1874520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F3FAF9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0" y="194767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292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412480" y="240487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元知识节点 / 12 分类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2953512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F3FAF9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02666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423</a:t>
            </a:r>
            <a:endParaRPr lang="en-US" sz="2500" dirty="0"/>
          </a:p>
        </p:txBody>
      </p:sp>
      <p:sp>
        <p:nvSpPr>
          <p:cNvPr id="26" name="Text 24"/>
          <p:cNvSpPr/>
          <p:nvPr/>
        </p:nvSpPr>
        <p:spPr>
          <a:xfrm>
            <a:off x="8412480" y="348386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题库（四题型）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0" y="4032504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E7F6F4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4105656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130MB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8412480" y="456285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安装包 · 免 Docker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29600" y="5111496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F3FAF9"/>
          </a:solidFill>
          <a:ln/>
        </p:spPr>
      </p:sp>
      <p:sp>
        <p:nvSpPr>
          <p:cNvPr id="31" name="Text 29"/>
          <p:cNvSpPr/>
          <p:nvPr/>
        </p:nvSpPr>
        <p:spPr>
          <a:xfrm>
            <a:off x="8412480" y="518464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</a:t>
            </a:r>
            <a:endParaRPr lang="en-US" sz="2500" dirty="0"/>
          </a:p>
        </p:txBody>
      </p:sp>
      <p:sp>
        <p:nvSpPr>
          <p:cNvPr id="32" name="Text 30"/>
          <p:cNvSpPr/>
          <p:nvPr/>
        </p:nvSpPr>
        <p:spPr>
          <a:xfrm>
            <a:off x="8412480" y="564184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全链路流式进度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04 · 多智能体协同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个核心 Agent 的五阶段协同链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0C3532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主控调度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94360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编排路由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21408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学情检测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212848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出题·判分·三维画像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39896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16" name="Text 14"/>
          <p:cNvSpPr/>
          <p:nvPr/>
        </p:nvSpPr>
        <p:spPr>
          <a:xfrm>
            <a:off x="3831336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图谱管控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831336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路径组装·状态写回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58384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19" name="Text 17"/>
          <p:cNvSpPr/>
          <p:nvPr/>
        </p:nvSpPr>
        <p:spPr>
          <a:xfrm>
            <a:off x="5449824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内容生成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49824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三形态·溯源标记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76872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22" name="Text 20"/>
          <p:cNvSpPr/>
          <p:nvPr/>
        </p:nvSpPr>
        <p:spPr>
          <a:xfrm>
            <a:off x="7068312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内容审核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68312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四维评分·溯源校验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595360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0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686800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项目规范审查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213848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28" name="Text 26"/>
          <p:cNvSpPr/>
          <p:nvPr/>
        </p:nvSpPr>
        <p:spPr>
          <a:xfrm>
            <a:off x="10305288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代码测试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0305288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沙箱执行·风险标注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2798064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 Agent：</a:t>
            </a:r>
            <a:pPr indent="0" marL="0"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独立裁判（LLM-as-Judge，可异源）· 动态建域（未收录领域当场构建）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场景一固化流程（流程定义随 run 落盘，可复盘）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学情检测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295144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715768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36" name="Text 34"/>
          <p:cNvSpPr/>
          <p:nvPr/>
        </p:nvSpPr>
        <p:spPr>
          <a:xfrm>
            <a:off x="2715768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画像审核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507992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928616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39" name="Text 37"/>
          <p:cNvSpPr/>
          <p:nvPr/>
        </p:nvSpPr>
        <p:spPr>
          <a:xfrm>
            <a:off x="4928616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图谱组装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720840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141464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42" name="Text 40"/>
          <p:cNvSpPr/>
          <p:nvPr/>
        </p:nvSpPr>
        <p:spPr>
          <a:xfrm>
            <a:off x="7141464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内容生成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933688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354312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45" name="Text 43"/>
          <p:cNvSpPr/>
          <p:nvPr/>
        </p:nvSpPr>
        <p:spPr>
          <a:xfrm>
            <a:off x="9354312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内容审核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11146536" y="4096512"/>
            <a:ext cx="603504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1804904" y="3703320"/>
            <a:ext cx="1234440" cy="786384"/>
          </a:xfrm>
          <a:prstGeom prst="roundRect">
            <a:avLst>
              <a:gd name="adj" fmla="val 10465"/>
            </a:avLst>
          </a:prstGeom>
          <a:solidFill>
            <a:srgbClr val="0F9488"/>
          </a:solidFill>
          <a:ln/>
        </p:spPr>
      </p:sp>
      <p:sp>
        <p:nvSpPr>
          <p:cNvPr id="48" name="Text 46"/>
          <p:cNvSpPr/>
          <p:nvPr/>
        </p:nvSpPr>
        <p:spPr>
          <a:xfrm>
            <a:off x="11804904" y="3703320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· 交付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0222992" y="4489704"/>
            <a:ext cx="0" cy="310896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>
            <a:off x="8010144" y="4800600"/>
            <a:ext cx="2212848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8010144" y="4544568"/>
            <a:ext cx="0" cy="256032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8193024" y="45079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不合格 → 打回定向再生（审核意见注入 correction_hint，多轮博弈直至通过）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2920" y="54406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调度事件（agent-start / agent-end / 耗时）实时落盘 events.jsonl，前端协同阶段与流程 DAG 同步可视化；LLM 不可用自动降级不产半成品。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05 · 抗幻觉机制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辩论与交叉验证：生成、审核、裁判三方分离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F3FAF9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18470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" y="22128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只许使用图谱节点事实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7373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F3FAF9"/>
          </a:solidFill>
          <a:ln/>
        </p:spPr>
      </p:sp>
      <p:sp>
        <p:nvSpPr>
          <p:cNvPr id="13" name="Text 11"/>
          <p:cNvSpPr/>
          <p:nvPr/>
        </p:nvSpPr>
        <p:spPr>
          <a:xfrm>
            <a:off x="3163824" y="18470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63824" y="22128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source_nodes 逐条核对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0" y="35661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0C3532"/>
          </a:solidFill>
          <a:ln/>
        </p:spPr>
      </p:sp>
      <p:sp>
        <p:nvSpPr>
          <p:cNvPr id="16" name="Text 14"/>
          <p:cNvSpPr/>
          <p:nvPr/>
        </p:nvSpPr>
        <p:spPr>
          <a:xfrm>
            <a:off x="3163824" y="36758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独立裁判复核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63824" y="40416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LLM-as-Judge · 可异源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5661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F3FAF9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6758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高保真交付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" y="40416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逐段可溯源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88920" y="2258568"/>
            <a:ext cx="22860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807208" y="188366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60520" y="2788920"/>
            <a:ext cx="0" cy="77724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2788920" y="4087368"/>
            <a:ext cx="22860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645920" y="2788920"/>
            <a:ext cx="0" cy="41148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45920" y="3200400"/>
            <a:ext cx="3931920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5577840" y="2258568"/>
            <a:ext cx="0" cy="941832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5303520" y="2258568"/>
            <a:ext cx="274320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63040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/ 无溯源 → 打回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72200" y="1481328"/>
            <a:ext cx="5513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四道防线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172200" y="195681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775704" y="1901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事实锚定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775704" y="220370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prompt 强制锚定图谱事实，禁止编造图谱外知识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72200" y="274320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1722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6775704" y="26883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溯源校验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775704" y="2990088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引用不存在节点 / 与节点事实不符即判幻觉打回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72200" y="3529584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617220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775704" y="34747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定向再生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6775704" y="377647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审核意见注入修正提示，只重生被点名内容（15→3-6 次调用）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72200" y="4315968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44" name="Text 42"/>
          <p:cNvSpPr/>
          <p:nvPr/>
        </p:nvSpPr>
        <p:spPr>
          <a:xfrm>
            <a:off x="617220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775704" y="42611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独立裁判</a:t>
            </a:r>
            <a:endParaRPr lang="en-US" sz="1450" dirty="0"/>
          </a:p>
        </p:txBody>
      </p:sp>
      <p:sp>
        <p:nvSpPr>
          <p:cNvPr id="46" name="Text 44"/>
          <p:cNvSpPr/>
          <p:nvPr/>
        </p:nvSpPr>
        <p:spPr>
          <a:xfrm>
            <a:off x="6775704" y="45628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生成方不自批：grounded / hallucinated / unverifiable 三态判定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172200" y="5138928"/>
            <a:ext cx="5513832" cy="841248"/>
          </a:xfrm>
          <a:prstGeom prst="roundRect">
            <a:avLst>
              <a:gd name="adj" fmla="val 9783"/>
            </a:avLst>
          </a:prstGeom>
          <a:solidFill>
            <a:srgbClr val="E7F6F4"/>
          </a:solidFill>
          <a:ln/>
        </p:spPr>
      </p:sp>
      <p:sp>
        <p:nvSpPr>
          <p:cNvPr id="48" name="Text 46"/>
          <p:cNvSpPr/>
          <p:nvPr/>
        </p:nvSpPr>
        <p:spPr>
          <a:xfrm>
            <a:off x="6391656" y="5138928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 2.4%</a:t>
            </a:r>
            <a:pPr indent="0" marL="0">
              <a:buNone/>
            </a:pPr>
            <a:r>
              <a:rPr lang="en-US" sz="1250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（2/83 条资源 · 独立裁判口径）远优于赛题达标线 &lt;5%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06 · 个性化生成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同一知识库切片，两套完全不同的产出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598932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517904"/>
            <a:ext cx="598932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55648"/>
            <a:ext cx="598932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83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153619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· 图谱阶段 · 资源交付区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1883664"/>
            <a:ext cx="5769864" cy="3218688"/>
          </a:xfrm>
          <a:prstGeom prst="roundRect">
            <a:avLst>
              <a:gd name="adj" fmla="val 1136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83664"/>
            <a:ext cx="549554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三形态资源展示（讲义 / 实操 / 测试）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待嵌入截图：shot-03_资源_三形态.png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766560" y="1563624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F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1563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424928" y="151790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分层讲义 lecture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24928" y="1837944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学习目标 · 知识讲解 · 常见误区，措辞随画像分级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2532888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FF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2532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24928" y="2487168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阶梯式实操指南 practice_guide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4928" y="2807208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真实任务背景 + 5 级脚手架渐进揭示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350215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F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6766560" y="3502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424928" y="3456432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分阶测试题 test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4928" y="37764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 50% + 进阶 50%，格式冻结可本地判分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66560" y="4526280"/>
            <a:ext cx="4919472" cy="1417320"/>
          </a:xfrm>
          <a:prstGeom prst="roundRect">
            <a:avLst>
              <a:gd name="adj" fmla="val 5806"/>
            </a:avLst>
          </a:prstGeom>
          <a:solidFill>
            <a:srgbClr val="F3FA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67728" y="46451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难度自适应实证（节点 PY-009 列表）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967728" y="4974336"/>
            <a:ext cx="4517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零基础学生 → beginner：入门措辞，从基本概念讲起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资深开发者 → advanced：进阶解读 + 项目化实操任务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5349240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每段内容标注 source_nodes，点击资源段高亮溯源图谱节点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07 · 质量闭环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三项核心指标全部优于赛题达标线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3602736" cy="3017520"/>
          </a:xfrm>
          <a:prstGeom prst="roundRect">
            <a:avLst>
              <a:gd name="adj" fmla="val 2727"/>
            </a:avLst>
          </a:prstGeom>
          <a:solidFill>
            <a:srgbClr val="F3FAF9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187452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2.4%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777240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401568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达标线 &lt; 5%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DCE9E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931920"/>
            <a:ext cx="732983" cy="14630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304288" y="3867912"/>
            <a:ext cx="0" cy="274320"/>
          </a:xfrm>
          <a:prstGeom prst="line">
            <a:avLst/>
          </a:prstGeom>
          <a:noFill/>
          <a:ln w="20320">
            <a:solidFill>
              <a:srgbClr val="17323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77240" y="4224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竖线 = 赛题达标线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25112" y="1645920"/>
            <a:ext cx="3602736" cy="3017520"/>
          </a:xfrm>
          <a:prstGeom prst="roundRect">
            <a:avLst>
              <a:gd name="adj" fmla="val 2727"/>
            </a:avLst>
          </a:prstGeom>
          <a:solidFill>
            <a:srgbClr val="F3FAF9"/>
          </a:solidFill>
          <a:ln/>
        </p:spPr>
      </p:sp>
      <p:sp>
        <p:nvSpPr>
          <p:cNvPr id="18" name="Text 16"/>
          <p:cNvSpPr/>
          <p:nvPr/>
        </p:nvSpPr>
        <p:spPr>
          <a:xfrm>
            <a:off x="4581144" y="187452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94.0%</a:t>
            </a:r>
            <a:endParaRPr lang="en-US" sz="5800" dirty="0"/>
          </a:p>
        </p:txBody>
      </p:sp>
      <p:sp>
        <p:nvSpPr>
          <p:cNvPr id="19" name="Text 17"/>
          <p:cNvSpPr/>
          <p:nvPr/>
        </p:nvSpPr>
        <p:spPr>
          <a:xfrm>
            <a:off x="4599432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画像-难度适配率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9432" y="3401568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达标线 ≥ 85%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99432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DCE9E7"/>
          </a:solidFill>
          <a:ln/>
        </p:spPr>
      </p:sp>
      <p:sp>
        <p:nvSpPr>
          <p:cNvPr id="22" name="Shape 20"/>
          <p:cNvSpPr/>
          <p:nvPr/>
        </p:nvSpPr>
        <p:spPr>
          <a:xfrm>
            <a:off x="4599432" y="3931920"/>
            <a:ext cx="2870850" cy="146304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/>
        </p:spPr>
      </p:sp>
      <p:sp>
        <p:nvSpPr>
          <p:cNvPr id="23" name="Shape 21"/>
          <p:cNvSpPr/>
          <p:nvPr/>
        </p:nvSpPr>
        <p:spPr>
          <a:xfrm>
            <a:off x="7195414" y="3867912"/>
            <a:ext cx="0" cy="274320"/>
          </a:xfrm>
          <a:prstGeom prst="line">
            <a:avLst/>
          </a:prstGeom>
          <a:noFill/>
          <a:ln w="20320">
            <a:solidFill>
              <a:srgbClr val="17323A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599432" y="4224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竖线 = 赛题达标线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47304" y="1645920"/>
            <a:ext cx="3602736" cy="3017520"/>
          </a:xfrm>
          <a:prstGeom prst="roundRect">
            <a:avLst>
              <a:gd name="adj" fmla="val 2727"/>
            </a:avLst>
          </a:prstGeom>
          <a:solidFill>
            <a:srgbClr val="F3FAF9"/>
          </a:solidFill>
          <a:ln/>
        </p:spPr>
      </p:sp>
      <p:sp>
        <p:nvSpPr>
          <p:cNvPr id="26" name="Text 24"/>
          <p:cNvSpPr/>
          <p:nvPr/>
        </p:nvSpPr>
        <p:spPr>
          <a:xfrm>
            <a:off x="8403336" y="187452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5800" dirty="0"/>
          </a:p>
        </p:txBody>
      </p:sp>
      <p:sp>
        <p:nvSpPr>
          <p:cNvPr id="27" name="Text 25"/>
          <p:cNvSpPr/>
          <p:nvPr/>
        </p:nvSpPr>
        <p:spPr>
          <a:xfrm>
            <a:off x="8421624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核心知识点覆盖率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421624" y="3401568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达标线 ≥ 90%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421624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DCE9E7"/>
          </a:solidFill>
          <a:ln/>
        </p:spPr>
      </p:sp>
      <p:sp>
        <p:nvSpPr>
          <p:cNvPr id="30" name="Shape 28"/>
          <p:cNvSpPr/>
          <p:nvPr/>
        </p:nvSpPr>
        <p:spPr>
          <a:xfrm>
            <a:off x="8421624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170310" y="3867912"/>
            <a:ext cx="0" cy="274320"/>
          </a:xfrm>
          <a:prstGeom prst="line">
            <a:avLst/>
          </a:prstGeom>
          <a:noFill/>
          <a:ln w="20320">
            <a:solidFill>
              <a:srgbClr val="17323A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8421624" y="4224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竖线 = 赛题达标线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双口径质检：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生成方自评 + 独立裁判（LLM-as-Judge，可异源配置）逐资源判定；10 组差异化画像 × 83 条资源，逐条判定证据链可查；12 例黄金回归集钉住裁判行为防漂移。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02920" y="580644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数据来源：M5 质量检测报告（backend/scripts/run_quality_test.py 自动生成，独立裁判口径，2026-08-12）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08 · 可视化与体验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调度过程不是黑盒：实时可见、可复盘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517904"/>
            <a:ext cx="557784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55648"/>
            <a:ext cx="557784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83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· 协同阶段（Agent 状态流转）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1883664"/>
            <a:ext cx="5358384" cy="2807208"/>
          </a:xfrm>
          <a:prstGeom prst="roundRect">
            <a:avLst>
              <a:gd name="adj" fmla="val 130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83664"/>
            <a:ext cx="508406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 Agent 状态 + SSE 分步进度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待嵌入截图：shot-02_协同阶段_智能体流转.png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09360" y="1517904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1517904"/>
            <a:ext cx="557784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1755648"/>
            <a:ext cx="557784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21" name="Shape 19"/>
          <p:cNvSpPr/>
          <p:nvPr/>
        </p:nvSpPr>
        <p:spPr>
          <a:xfrm>
            <a:off x="643737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2" name="Shape 20"/>
          <p:cNvSpPr/>
          <p:nvPr/>
        </p:nvSpPr>
        <p:spPr>
          <a:xfrm>
            <a:off x="659282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827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699516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数据看板 · 学情与资源匹配报告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19088" y="1883664"/>
            <a:ext cx="5358384" cy="2807208"/>
          </a:xfrm>
          <a:prstGeom prst="roundRect">
            <a:avLst>
              <a:gd name="adj" fmla="val 130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6248" y="1883664"/>
            <a:ext cx="508406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盲区分布 / 难度匹配 / 路径规划 + 指标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待嵌入截图：shot-06_看板报告.png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02920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盲区定位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掌握度着色 + 错题模式实录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55848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31" name="Text 29"/>
          <p:cNvSpPr/>
          <p:nvPr/>
        </p:nvSpPr>
        <p:spPr>
          <a:xfrm>
            <a:off x="3520440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难度匹配曲线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资源难度 × 画像水平逐点对比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08776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34" name="Text 32"/>
          <p:cNvSpPr/>
          <p:nvPr/>
        </p:nvSpPr>
        <p:spPr>
          <a:xfrm>
            <a:off x="6373368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路径规划图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73368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最短路径一键高亮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061704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37" name="Text 35"/>
          <p:cNvSpPr/>
          <p:nvPr/>
        </p:nvSpPr>
        <p:spPr>
          <a:xfrm>
            <a:off x="9226296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动态反馈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226296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advance / remediate / scaffold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09 · 桌面 IDE 形态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开箱即用的 Windows 桌面应用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6675120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517904"/>
            <a:ext cx="667512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55648"/>
            <a:ext cx="667512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83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1536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视图 · 文件树 + Monaco 多标签 + 状态栏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1883664"/>
            <a:ext cx="6455664" cy="3995928"/>
          </a:xfrm>
          <a:prstGeom prst="roundRect">
            <a:avLst>
              <a:gd name="adj" fmla="val 915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83664"/>
            <a:ext cx="6181344" cy="3995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 主界面全景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待嵌入截图：shot-07_IDE_主界面.png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52360" y="1517904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E7F6F4"/>
          </a:solidFill>
          <a:ln/>
        </p:spPr>
      </p:sp>
      <p:sp>
        <p:nvSpPr>
          <p:cNvPr id="19" name="Text 17"/>
          <p:cNvSpPr/>
          <p:nvPr/>
        </p:nvSpPr>
        <p:spPr>
          <a:xfrm>
            <a:off x="7653528" y="1609344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 Docker 部署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53528" y="1938528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嵌入式图存储 + 后端 sidecar 自启 · 安装即用约 130MB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52360" y="2651760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F3FAF9"/>
          </a:solidFill>
          <a:ln/>
        </p:spPr>
      </p:sp>
      <p:sp>
        <p:nvSpPr>
          <p:cNvPr id="22" name="Text 20"/>
          <p:cNvSpPr/>
          <p:nvPr/>
        </p:nvSpPr>
        <p:spPr>
          <a:xfrm>
            <a:off x="7653528" y="2743200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助手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653528" y="3072384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多厂商 SSE 流式 · 13 工具调用循环 · write_file 审批门 · 苏格拉底导学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52360" y="3785616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F3FAF9"/>
          </a:solidFill>
          <a:ln/>
        </p:spPr>
      </p:sp>
      <p:sp>
        <p:nvSpPr>
          <p:cNvPr id="25" name="Text 23"/>
          <p:cNvSpPr/>
          <p:nvPr/>
        </p:nvSpPr>
        <p:spPr>
          <a:xfrm>
            <a:off x="7653528" y="3877056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代码沙箱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653528" y="4206240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subprocess 环境变量白名单（密钥不外泄）+ Docker 隔离可选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452360" y="4919472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F3FAF9"/>
          </a:solidFill>
          <a:ln/>
        </p:spPr>
      </p:sp>
      <p:sp>
        <p:nvSpPr>
          <p:cNvPr id="28" name="Text 26"/>
          <p:cNvSpPr/>
          <p:nvPr/>
        </p:nvSpPr>
        <p:spPr>
          <a:xfrm>
            <a:off x="7653528" y="5010912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安全与合规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53528" y="5340096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 加固 · 交互日志脱敏 · 画像全合成 · 数据仅存本机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10 · 工程质量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1366 项自动化测试，核心模块专项覆盖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6002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1366</a:t>
            </a:r>
            <a:endParaRPr lang="en-US" sz="8800" dirty="0"/>
          </a:p>
        </p:txBody>
      </p:sp>
      <p:sp>
        <p:nvSpPr>
          <p:cNvPr id="10" name="Text 8"/>
          <p:cNvSpPr/>
          <p:nvPr/>
        </p:nvSpPr>
        <p:spPr>
          <a:xfrm>
            <a:off x="502920" y="306324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项自动化测试全部通过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797 + 2 跳过（Pytest · 63 文件）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569（Vitest · 72 文件）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2026-09-03 · v1.4.0 实测（基线同 v1.3.4）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4206240" cy="1234440"/>
          </a:xfrm>
          <a:prstGeom prst="roundRect">
            <a:avLst>
              <a:gd name="adj" fmla="val 6667"/>
            </a:avLst>
          </a:prstGeom>
          <a:solidFill>
            <a:srgbClr val="E7F6F4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846320"/>
            <a:ext cx="3803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手动验收 M-01 ~ M-26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全流程验收用例（P0 级 11 条）+ 发布前双路代码审查与深度安全扫描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074920" y="155448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赛题点名的两大核心模块专项测试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74920" y="2057400"/>
            <a:ext cx="6611112" cy="1417320"/>
          </a:xfrm>
          <a:prstGeom prst="roundRect">
            <a:avLst>
              <a:gd name="adj" fmla="val 5806"/>
            </a:avLst>
          </a:prstGeom>
          <a:solidFill>
            <a:srgbClr val="F3FAF9"/>
          </a:solidFill>
          <a:ln/>
        </p:spPr>
      </p:sp>
      <p:sp>
        <p:nvSpPr>
          <p:cNvPr id="15" name="Text 13"/>
          <p:cNvSpPr/>
          <p:nvPr/>
        </p:nvSpPr>
        <p:spPr>
          <a:xfrm>
            <a:off x="5294376" y="2221992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330952" y="2898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9400" y="2185416"/>
            <a:ext cx="4782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多智能体协同调度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629400" y="2551176"/>
            <a:ext cx="4782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个测试文件：编排路由（打回-再生-上限终止）· 逻辑门决策 · run 持久化 · 配置跨线程传播 · 动态建域 · SSE 流式与取消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74920" y="3630168"/>
            <a:ext cx="6611112" cy="1417320"/>
          </a:xfrm>
          <a:prstGeom prst="roundRect">
            <a:avLst>
              <a:gd name="adj" fmla="val 5806"/>
            </a:avLst>
          </a:prstGeom>
          <a:solidFill>
            <a:srgbClr val="F3FAF9"/>
          </a:solidFill>
          <a:ln/>
        </p:spPr>
      </p:sp>
      <p:sp>
        <p:nvSpPr>
          <p:cNvPr id="20" name="Text 18"/>
          <p:cNvSpPr/>
          <p:nvPr/>
        </p:nvSpPr>
        <p:spPr>
          <a:xfrm>
            <a:off x="5294376" y="37947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244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5330952" y="44714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758184"/>
            <a:ext cx="4782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领域知识生成准确性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629400" y="4123944"/>
            <a:ext cx="4782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个测试文件：三形态生成 · 溯源校验（引用不存在节点即打回）· 独立裁判幻觉判定 · 三指标口径 · 12 例黄金回归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74920" y="5285232"/>
            <a:ext cx="6611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363 用例专测核心模块；测试全离线可跑（假模型桩，不消耗 API 配额）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11 · 演示闭环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从画像输入到资源生成的完整闭环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pPr indent="0" marL="0"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差异化画像输入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602736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1874520"/>
            <a:ext cx="3602736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112264"/>
            <a:ext cx="3602736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5" name="Shape 13"/>
          <p:cNvSpPr/>
          <p:nvPr/>
        </p:nvSpPr>
        <p:spPr>
          <a:xfrm>
            <a:off x="941832" y="1988820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18928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差异化画像输入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" y="2240280"/>
            <a:ext cx="3383280" cy="2212848"/>
          </a:xfrm>
          <a:prstGeom prst="roundRect">
            <a:avLst>
              <a:gd name="adj" fmla="val 165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2240280"/>
            <a:ext cx="310896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两组画像对比 + 测评作答 （零基础学生 vs 资深开发者）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待嵌入截图：shot-01_学习会话_答题.png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2920" y="461772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两组画像对比 + 测评作答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（零基础学生 vs 资深开发者）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51376" y="3200400"/>
            <a:ext cx="164592" cy="0"/>
          </a:xfrm>
          <a:prstGeom prst="line">
            <a:avLst/>
          </a:prstGeom>
          <a:noFill/>
          <a:ln w="3302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325112" y="146304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pPr indent="0" marL="0"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协同调度可视化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325112" y="1874520"/>
            <a:ext cx="3602736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25112" y="1874520"/>
            <a:ext cx="3602736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24" name="Shape 22"/>
          <p:cNvSpPr/>
          <p:nvPr/>
        </p:nvSpPr>
        <p:spPr>
          <a:xfrm>
            <a:off x="4325112" y="2112264"/>
            <a:ext cx="3602736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25" name="Shape 23"/>
          <p:cNvSpPr/>
          <p:nvPr/>
        </p:nvSpPr>
        <p:spPr>
          <a:xfrm>
            <a:off x="4453128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6" name="Shape 24"/>
          <p:cNvSpPr/>
          <p:nvPr/>
        </p:nvSpPr>
        <p:spPr>
          <a:xfrm>
            <a:off x="4608576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7" name="Shape 25"/>
          <p:cNvSpPr/>
          <p:nvPr/>
        </p:nvSpPr>
        <p:spPr>
          <a:xfrm>
            <a:off x="4764024" y="1988820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8928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协同调度可视化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34840" y="2240280"/>
            <a:ext cx="3383280" cy="2212848"/>
          </a:xfrm>
          <a:prstGeom prst="roundRect">
            <a:avLst>
              <a:gd name="adj" fmla="val 165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240280"/>
            <a:ext cx="310896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 Agent 流转 打回博弈 + 溯源高亮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待嵌入截图：shot-02_协同阶段_智能体流转.png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325112" y="461772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 Agent 流转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打回博弈 + 溯源高亮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200400"/>
            <a:ext cx="164592" cy="0"/>
          </a:xfrm>
          <a:prstGeom prst="line">
            <a:avLst/>
          </a:prstGeom>
          <a:noFill/>
          <a:ln w="3302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147304" y="146304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</a:t>
            </a:r>
            <a:pPr indent="0" marL="0"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8147304" y="1874520"/>
            <a:ext cx="3602736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47304" y="1874520"/>
            <a:ext cx="3602736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36" name="Shape 34"/>
          <p:cNvSpPr/>
          <p:nvPr/>
        </p:nvSpPr>
        <p:spPr>
          <a:xfrm>
            <a:off x="8147304" y="2112264"/>
            <a:ext cx="3602736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37" name="Shape 35"/>
          <p:cNvSpPr/>
          <p:nvPr/>
        </p:nvSpPr>
        <p:spPr>
          <a:xfrm>
            <a:off x="8275320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38" name="Shape 36"/>
          <p:cNvSpPr/>
          <p:nvPr/>
        </p:nvSpPr>
        <p:spPr>
          <a:xfrm>
            <a:off x="8430768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39" name="Shape 37"/>
          <p:cNvSpPr/>
          <p:nvPr/>
        </p:nvSpPr>
        <p:spPr>
          <a:xfrm>
            <a:off x="8586216" y="1988820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18928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257032" y="2240280"/>
            <a:ext cx="3383280" cy="2212848"/>
          </a:xfrm>
          <a:prstGeom prst="roundRect">
            <a:avLst>
              <a:gd name="adj" fmla="val 165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94192" y="2240280"/>
            <a:ext cx="310896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三形态资源交付 难度自适应双版本对比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待嵌入截图：shot-03_资源_三形态.png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147304" y="461772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三形态资源交付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难度自适应双版本对比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948672" y="5257800"/>
            <a:ext cx="0" cy="18288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>
            <a:off x="2304288" y="5440680"/>
            <a:ext cx="7644384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304288" y="5230368"/>
            <a:ext cx="0" cy="210312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2985516" y="55138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反馈动态决策（正确率驱动进阶 / 降维 / 补前置）→ 回到画像更新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02920" y="598932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完整演示见随附 8 分钟视频（脚本：比赛提交/06_演示视频脚本.md）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35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" y="5669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8138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8138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让大模型从“通用聊天工具”，转变为“懂专业、精技能、能落地”的教育资源生产引擎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事实底座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22376" y="27249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四层知识图谱作为全部 Agent 共享事实源，内容逐段可溯源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228600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博弈抗幻觉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28232" y="27249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/ 审核 / 裁判三方分离可异源，幻觉率实测压至 2.4%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64992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" y="34747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真个性化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22376" y="3803904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同一节点对零基础与资深者产出两套难度措辞完全不同的资源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08776" y="3364992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4747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工程完成度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28232" y="3803904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单文件安装开箱即用 · 1366 测试 · 双路审查与安全扫描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663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</a:t>
            </a:r>
            <a:pPr indent="0" marL="0">
              <a:buNone/>
            </a:pPr>
            <a:r>
              <a:rPr lang="en-US" sz="13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领域泛化（动态建域接入行业规范库）· 协同可视化深化（可编辑流程工作台）· 终身学习档案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5257800"/>
            <a:ext cx="11183112" cy="0"/>
          </a:xfrm>
          <a:prstGeom prst="line">
            <a:avLst/>
          </a:prstGeom>
          <a:noFill/>
          <a:ln w="12700">
            <a:solidFill>
              <a:srgbClr val="2354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5440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源代码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github.com/origin0722/KMatch-Desktop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25112" y="5440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发行物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KMatch·知链-1.4.0-x64.exe（Windows · 免 Docker · 终版）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147304" y="5440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提交材料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docs/比赛提交/ 资料包（作品介绍 · 设计方案 · 测试数据 · 部署说明）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8E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KMatch·知链 ｜ 赛题 XH-202630 ｜ 2026-09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KMatch·知链 项目介绍</dc:title>
  <dc:subject>PptxGenJS Presentation</dc:subject>
  <dc:creator>KMatch</dc:creator>
  <cp:lastModifiedBy>KMatch</cp:lastModifiedBy>
  <cp:revision>1</cp:revision>
  <dcterms:created xsi:type="dcterms:W3CDTF">2026-09-03T09:26:53Z</dcterms:created>
  <dcterms:modified xsi:type="dcterms:W3CDTF">2026-09-03T09:26:53Z</dcterms:modified>
</cp:coreProperties>
</file>